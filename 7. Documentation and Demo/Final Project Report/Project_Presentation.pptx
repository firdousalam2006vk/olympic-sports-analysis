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3291840" cy="36576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SKILLS WALLET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Georgia"/>
              </a:defRPr>
            </a:pPr>
            <a:r>
              <a:t>Global Olympic Sports</a:t>
            </a:r>
            <a:br/>
            <a:r>
              <a:t>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  <a:latin typeface="Calibri"/>
              </a:defRPr>
            </a:pPr>
            <a:r>
              <a:t>A Multi-Dimensional Historical &amp; Regional Study (1896–2016) Powered by Python, Pandas &amp; Interactive Tableau Dashboards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10362895" cy="2011680"/>
          </a:xfrm>
          <a:prstGeom prst="roundRect">
            <a:avLst/>
          </a:prstGeom>
          <a:solidFill>
            <a:srgbClr val="172A4D"/>
          </a:solidFill>
          <a:ln w="12700">
            <a:solidFill>
              <a:srgbClr val="2E6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b="1" sz="1300">
                <a:solidFill>
                  <a:srgbClr val="D4AF37"/>
                </a:solidFill>
              </a:defRPr>
            </a:pPr>
            <a:r>
              <a:t>Author: </a:t>
            </a:r>
            <a:r>
              <a:rPr b="0">
                <a:solidFill>
                  <a:srgbClr val="FFFFFF"/>
                </a:solidFill>
              </a:rPr>
              <a:t>Md. Firdous Alam    |    Course: Data Analytics &amp; Business Intelligence</a:t>
            </a:r>
          </a:p>
          <a:p>
            <a:pPr>
              <a:spcBef>
                <a:spcPts val="800"/>
              </a:spcBef>
              <a:defRPr b="1" sz="1200">
                <a:solidFill>
                  <a:srgbClr val="D4AF37"/>
                </a:solidFill>
              </a:defRPr>
            </a:pPr>
            <a:r>
              <a:t>Live Tableau Public: </a:t>
            </a:r>
            <a:r>
              <a:rPr b="0">
                <a:solidFill>
                  <a:srgbClr val="93C5FD"/>
                </a:solidFill>
              </a:rPr>
              <a:t>https://public.tableau.com/app/profile/md.firdous.alam/viz/GlobalOlympicSportsPerformanceAnalysis_17933559199720/Dashboard3</a:t>
            </a:r>
          </a:p>
          <a:p>
            <a:pPr>
              <a:spcBef>
                <a:spcPts val="800"/>
              </a:spcBef>
              <a:defRPr b="1" sz="1200">
                <a:solidFill>
                  <a:srgbClr val="D4AF37"/>
                </a:solidFill>
              </a:defRPr>
            </a:pPr>
            <a:r>
              <a:t>GitHub Repository: </a:t>
            </a:r>
            <a:r>
              <a:rPr b="0">
                <a:solidFill>
                  <a:srgbClr val="93C5FD"/>
                </a:solidFill>
              </a:rPr>
              <a:t>https://github.com/firdousalam2006vk/Olympic-Sports-Analysis</a:t>
            </a:r>
          </a:p>
          <a:p>
            <a:pPr>
              <a:spcBef>
                <a:spcPts val="800"/>
              </a:spcBef>
              <a:defRPr b="1" sz="1200">
                <a:solidFill>
                  <a:srgbClr val="D4AF37"/>
                </a:solidFill>
              </a:defRPr>
            </a:pPr>
            <a:r>
              <a:t>Core Competencies: </a:t>
            </a:r>
            <a:r>
              <a:rPr b="0">
                <a:solidFill>
                  <a:srgbClr val="FFFFFF"/>
                </a:solidFill>
              </a:rPr>
              <a:t>ETL Pipeline Design • Team Event Deduplication • Host Nation Advantage • ROI Analysis • Interactive Visual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6B9E"/>
                </a:solidFill>
                <a:latin typeface="Calibri"/>
              </a:defRPr>
            </a:pPr>
            <a:r>
              <a:t>GLOBAL OLYMPIC SPORTS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Problem Statement &amp; Analytical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Why traditional Olympic reporting produces misleading insights without specialized data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8655" cy="1828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Md. Firdous Alam | Skills Wallet Capstone Project | Tableau Public &amp; Python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28416" cy="73152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47672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Georgia"/>
              </a:defRPr>
            </a:pPr>
            <a:r>
              <a:t>1. The Team Deduplication Trap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194767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CRITICAL FLAW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23160"/>
            <a:ext cx="2871216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Flawed Metric: </a:t>
            </a:r>
            <a:r>
              <a:t>In raw athlete tables, team events record 1 row per player (e.g. 12 medals for basketball team).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Distortion Impact: </a:t>
            </a:r>
            <a:r>
              <a:t>Inflates nation medal counts by 300%–1100% in team-heavy sports like football, basketball, and hockey.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Research Need: </a:t>
            </a:r>
            <a:r>
              <a:t>Establish strict event-level deduplication keys to align programmatic counts exactly with official IOC tables.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Benchmark Case: </a:t>
            </a:r>
            <a:r>
              <a:t>1992 USA Men's Basketball Dream Team: 12 raw rows must collapse into exactly 1 official Gold medal.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78308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25696" y="1783080"/>
            <a:ext cx="3328416" cy="73152"/>
          </a:xfrm>
          <a:prstGeom prst="rect">
            <a:avLst/>
          </a:prstGeom>
          <a:solidFill>
            <a:srgbClr val="2E6B9E"/>
          </a:solidFill>
          <a:ln>
            <a:solidFill>
              <a:srgbClr val="2E6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1947672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E6B9E"/>
                </a:solidFill>
                <a:latin typeface="Georgia"/>
              </a:defRPr>
            </a:pPr>
            <a:r>
              <a:t>2. Geopolitical Discontinuities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194767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DATA 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2423160"/>
            <a:ext cx="2871216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Dissolved Entities: </a:t>
            </a:r>
            <a:r>
              <a:t>Historical powerhouses (Soviet Union / URS, East Germany / GDR, Yugoslavia) fragmented into new NOCs.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Boycott Anomalies: </a:t>
            </a:r>
            <a:r>
              <a:t>1980 Moscow (66 nations boycotted) and 1984 Los Angeles (14 Eastern Bloc boycotted) skew historical trends.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Season Split: </a:t>
            </a:r>
            <a:r>
              <a:t>Summer and Winter Games operated concurrently until 1992, decoupling in 1994 (Lillehammer).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Solution: </a:t>
            </a:r>
            <a:r>
              <a:t>Standardize ISO codes, preserve NOC historical identity, and normalize longitudinal time series.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78308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1783080"/>
            <a:ext cx="3328416" cy="7315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1947672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Georgia"/>
              </a:defRPr>
            </a:pPr>
            <a:r>
              <a:t>3. Resource &amp; Regional Disparities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02368" y="194767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INEQUALITY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423160"/>
            <a:ext cx="2871216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Medal Concentration: </a:t>
            </a:r>
            <a:r>
              <a:t>Over 56% of all historic Olympic medals are concentrated among the top 10 wealthiest nations.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Equipment Barriers: </a:t>
            </a:r>
            <a:r>
              <a:t>Winter Games and technical sports (Equestrian, Sailing, Cycling) exhibit severe GDP bias.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Host Advantage Question: </a:t>
            </a:r>
            <a:r>
              <a:t>Does hosting an Olympic Games deliver a statistically significant and repeatable performance boost?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ROI Inquiry: </a:t>
            </a:r>
            <a:r>
              <a:t>How efficiently does national high-performance funding translate into Olympic podium finishes?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6B9E"/>
                </a:solidFill>
                <a:latin typeface="Calibri"/>
              </a:defRPr>
            </a:pPr>
            <a:r>
              <a:t>GLOBAL OLYMPIC SPORTS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Research Objectives &amp; Project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Four interconnected pillars designed to deliver actionable intelligence for sports bodies and analysts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8655" cy="1828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Md. Firdous Alam | Skills Wallet Capstone Project | Tableau Public &amp; Python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175504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175504" cy="73152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47672"/>
            <a:ext cx="47183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Georgia"/>
              </a:defRPr>
            </a:pPr>
            <a:r>
              <a:t>Objective 1: Multi-Scale Trend &amp; Gender Modeling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94767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TEMPORAL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23160"/>
            <a:ext cx="4718304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Longitudinal Tracking: </a:t>
            </a:r>
            <a:r>
              <a:t>Analyze participation and medal trajectories across all 51 modern Olympic editions (1896–2016).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Gender Inclusivity Evolution: </a:t>
            </a:r>
            <a:r>
              <a:t>Quantify female athlete participation growth from 21.5% in Moscow 1980 to 45.0% in Rio 2016.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Seasonality Analysis: </a:t>
            </a:r>
            <a:r>
              <a:t>Separate Summer Games dynamics from specialized Winter Games requirements.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783080"/>
            <a:ext cx="5175504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2784" y="1783080"/>
            <a:ext cx="5175504" cy="73152"/>
          </a:xfrm>
          <a:prstGeom prst="rect">
            <a:avLst/>
          </a:prstGeom>
          <a:solidFill>
            <a:srgbClr val="2E6B9E"/>
          </a:solidFill>
          <a:ln>
            <a:solidFill>
              <a:srgbClr val="2E6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1947672"/>
            <a:ext cx="47183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E6B9E"/>
                </a:solidFill>
                <a:latin typeface="Georgia"/>
              </a:defRPr>
            </a:pPr>
            <a:r>
              <a:t>Objective 2: Dual Tableau Public Dashboard Suite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02368" y="194767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VISUAL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23160"/>
            <a:ext cx="4718304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Dashboard 1 (Global): </a:t>
            </a:r>
            <a:r>
              <a:t>KPI summary cards, Top 10 nation leaderboard, historical participation trends, sport breakdown.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Dashboard 2 (Efficiency): </a:t>
            </a:r>
            <a:r>
              <a:t>Continental efficiency ratings, host advantage benchmark, UK Sport funding scatter plot.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Interactive Usability: </a:t>
            </a:r>
            <a:r>
              <a:t>Synchronized cross-filtering across 200+ countries, 51 editions, and 2 distinct seasons.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5175504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114800"/>
            <a:ext cx="5175504" cy="7315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79392"/>
            <a:ext cx="47183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Georgia"/>
              </a:defRPr>
            </a:pPr>
            <a:r>
              <a:t>Objective 3: Host Nation Advantage Quantification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61104" y="427939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HYPOTHESIS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754880"/>
            <a:ext cx="4718304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Benchmark Metric: </a:t>
            </a:r>
            <a:r>
              <a:t>Compare host nation medal count against their 3-edition historical moving average.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Hypothesis Test: </a:t>
            </a:r>
            <a:r>
              <a:t>Validate whether home ground support, climate adaptation, and pre-funding yield measurable gains.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Empirical Proof: </a:t>
            </a:r>
            <a:r>
              <a:t>Observed average boost of +15.4 medals (1.54x factor) across 1980–2016 host countries.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2784" y="4114800"/>
            <a:ext cx="5175504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72784" y="4114800"/>
            <a:ext cx="5175504" cy="73152"/>
          </a:xfrm>
          <a:prstGeom prst="rect">
            <a:avLst/>
          </a:prstGeom>
          <a:solidFill>
            <a:srgbClr val="10955D"/>
          </a:solidFill>
          <a:ln>
            <a:solidFill>
              <a:srgbClr val="109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1384" y="4279392"/>
            <a:ext cx="47183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955D"/>
                </a:solidFill>
                <a:latin typeface="Georgia"/>
              </a:defRPr>
            </a:pPr>
            <a:r>
              <a:t>Objective 4: High-Performance Funding ROI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02368" y="427939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ECONOMETRICS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4754880"/>
            <a:ext cx="4718304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Empirical Dataset: </a:t>
            </a:r>
            <a:r>
              <a:t>Audit UK Sport lottery &amp; public investment records across Sydney 2000 to Rio 2016 cycles.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Marginal Cost Metric: </a:t>
            </a:r>
            <a:r>
              <a:t>Calculate the monetary investment required per Olympic medal won (£4.21M average in Rio 2016).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Targeted vs Untargeted: </a:t>
            </a:r>
            <a:r>
              <a:t>Demonstrate how focused discipline-specific funding drives exponential medal surges.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6B9E"/>
                </a:solidFill>
                <a:latin typeface="Calibri"/>
              </a:defRPr>
            </a:pPr>
            <a:r>
              <a:t>GLOBAL OLYMPIC SPORTS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Data Engineering &amp; Dual-CSV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Strict data schema optimized for Tableau Public performance and GitHub 25MB constraint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8655" cy="1828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Md. Firdous Alam | Skills Wallet Capstone Project | Tableau Public &amp; Python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175504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175504" cy="73152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47672"/>
            <a:ext cx="47183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Georgia"/>
              </a:defRPr>
            </a:pPr>
            <a:r>
              <a:t>Dataset A: athletes.csv (Athlete Biometrics)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94767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22.78 MB (&lt;25MB)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23160"/>
            <a:ext cx="4718304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File Scope: </a:t>
            </a:r>
            <a:r>
              <a:t>157,417 rows × 18 columns covering Modern Era (1980–2016).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Size Optimization: </a:t>
            </a:r>
            <a:r>
              <a:t>Engineered to 22.78 MB (strictly below GitHub's 25 MB web upload limit).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Archive Retention: </a:t>
            </a:r>
            <a:r>
              <a:t>Full historical archive (1896–2016, 271,116 rows) preserved in athletes_all_1896_2016.csv.gz (5.25 MB).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Core Attributes: </a:t>
            </a:r>
            <a:r>
              <a:t>ID, Name, Sex, Age, Height, Weight, Team, NOC, Games, Year, Season, City, Sport, Event, Medal, ISO_Code, Continent.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Type Coercion: </a:t>
            </a:r>
            <a:r>
              <a:t>Clean integer conversions for Age, Height, and Weight; nullable strings for unawarded medals.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Tableau Mapping: </a:t>
            </a:r>
            <a:r>
              <a:t>Powers athlete demographic distributions, BMI tracking, and gender parity worksheets.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783080"/>
            <a:ext cx="5175504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2784" y="1783080"/>
            <a:ext cx="5175504" cy="73152"/>
          </a:xfrm>
          <a:prstGeom prst="rect">
            <a:avLst/>
          </a:prstGeom>
          <a:solidFill>
            <a:srgbClr val="2E6B9E"/>
          </a:solidFill>
          <a:ln>
            <a:solidFill>
              <a:srgbClr val="2E6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1947672"/>
            <a:ext cx="47183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E6B9E"/>
                </a:solidFill>
                <a:latin typeface="Georgia"/>
              </a:defRPr>
            </a:pPr>
            <a:r>
              <a:t>Dataset B: medal_results.csv (Official IOC Aggregates)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02368" y="194767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ZERO DUPLICATES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23160"/>
            <a:ext cx="4718304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File Scope: </a:t>
            </a:r>
            <a:r>
              <a:t>3,837 rows × 17 columns spanning all 51 Olympic editions (1896–2016).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Integrity Guarantee: </a:t>
            </a:r>
            <a:r>
              <a:t>Zero duplicate primary keys on [Year, Season, NOC]. 100% test pass rate.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Host City Deduplication: </a:t>
            </a:r>
            <a:r>
              <a:t>Resolved Melbourne/Stockholm 1956 equestrian dual-city conflict via primary host city mapping.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Core Metrics: </a:t>
            </a:r>
            <a:r>
              <a:t>Gold, Silver, Bronze, Total_Medals, Athlete_Count, Host_Country, Is_Host, Host_City, Country_Name, Continent, ISO_Code.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Pre-aggregated ROI: </a:t>
            </a:r>
            <a:r>
              <a:t>Includes UK Sport funding metrics (£M, Cost_Per_Medal) for high-performance economic analysis.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Tableau Mapping: </a:t>
            </a:r>
            <a:r>
              <a:t>Direct data source for both primary dashboards, eliminating live join overhead.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6B9E"/>
                </a:solidFill>
                <a:latin typeface="Calibri"/>
              </a:defRPr>
            </a:pPr>
            <a:r>
              <a:t>GLOBAL OLYMPIC SPORTS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Methodology &amp; Team Deduplication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Eliminating inflation bias to align algorithmic counts with official International Olympic Committee standards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8655" cy="1828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Md. Firdous Alam | Skills Wallet Capstone Project | Tableau Public &amp; Python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72865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Official Event Deduplication Algorithm (Python / Pandas):</a:t>
            </a:r>
          </a:p>
          <a:p>
            <a:pPr>
              <a:spcBef>
                <a:spcPts val="400"/>
              </a:spcBef>
              <a:defRPr sz="1100" b="1">
                <a:solidFill>
                  <a:srgbClr val="0F1E36"/>
                </a:solidFill>
                <a:latin typeface="Consolas"/>
              </a:defRPr>
            </a:pPr>
            <a:r>
              <a:t>df_official = df_medals.drop_duplicates(subset=['Year', 'Season', 'NOC', 'Sport', 'Event', 'Medal'])</a:t>
            </a:r>
            <a:br/>
            <a:r>
              <a:t>country_medals = df_official.pivot_table(index=['Year', 'Season', 'NOC'], columns='Medal', aggfunc='size', fill_value=0)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5175504" cy="2880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5175504" cy="73152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56432"/>
            <a:ext cx="47183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Georgia"/>
              </a:defRPr>
            </a:pPr>
            <a:r>
              <a:t>Real-World Verification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1104" y="345643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VALIDATED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31920"/>
            <a:ext cx="4718304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1992 USA Men's Basketball: </a:t>
            </a:r>
            <a:r>
              <a:t>Raw dataset = 12 Gold athlete medals. Algorithm = exactly 1 official IOC Gold medal.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2016 Fiji Men's Rugby 7s: </a:t>
            </a:r>
            <a:r>
              <a:t>Raw dataset = 13 Gold athlete medals. Algorithm = exactly 1 official IOC Gold medal.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1980 USSR Ice Hockey: </a:t>
            </a:r>
            <a:r>
              <a:t>Raw dataset = 20 Silver athlete medals. Algorithm = exactly 1 official IOC Silver medal.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Validation Result: </a:t>
            </a:r>
            <a:r>
              <a:t>Perfect alignment with official IOC Historical Medal Tables across 100% of editions.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3291840"/>
            <a:ext cx="5175504" cy="2880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2784" y="3291840"/>
            <a:ext cx="5175504" cy="73152"/>
          </a:xfrm>
          <a:prstGeom prst="rect">
            <a:avLst/>
          </a:prstGeom>
          <a:solidFill>
            <a:srgbClr val="10955D"/>
          </a:solidFill>
          <a:ln>
            <a:solidFill>
              <a:srgbClr val="109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3456432"/>
            <a:ext cx="47183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955D"/>
                </a:solidFill>
                <a:latin typeface="Georgia"/>
              </a:defRPr>
            </a:pPr>
            <a:r>
              <a:t>Automated 5-Stage Verification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02368" y="345643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20/20 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3931920"/>
            <a:ext cx="4718304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Stage 1 (Ingest): </a:t>
            </a:r>
            <a:r>
              <a:t>Download &amp; unpack 120-year athlete records from Kaggle/IOC historical databases.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Stage 2 (Normalize): </a:t>
            </a:r>
            <a:r>
              <a:t>Standardize historical NOC country codes and ISO 3166-1 alpha-3 territory mappings.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Stage 3 (Transform): </a:t>
            </a:r>
            <a:r>
              <a:t>Execute deduplication, compute host indicators, calculate rolling baselines.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Stage 4 (Validate): </a:t>
            </a:r>
            <a:r>
              <a:t>Execute scripts/05_validate_all_outputs.py (20 automated unit &amp; integrity tests).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Stage 5 (Export): </a:t>
            </a:r>
            <a:r>
              <a:t>Generate Tableau TWBX extract and optimized CSV tables for public distribution.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6B9E"/>
                </a:solidFill>
                <a:latin typeface="Calibri"/>
              </a:defRPr>
            </a:pPr>
            <a:r>
              <a:t>GLOBAL OLYMPIC SPORTS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Technology Stack &amp;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Production-grade tooling spanning data ingestion, relational processing, visualization, and automated documentation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8655" cy="1828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Md. Firdous Alam | Skills Wallet Capstone Project | Tableau Public &amp; Python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965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1965960" cy="73152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47672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Georgia"/>
              </a:defRPr>
            </a:pPr>
            <a:r>
              <a:t>Python 3.14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194767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CORE 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23160"/>
            <a:ext cx="150876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Pandas: </a:t>
            </a:r>
            <a:r>
              <a:t>ETL data engineering, aggregation &amp; pivoting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NumPy: </a:t>
            </a:r>
            <a:r>
              <a:t>High-performance vector operations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OpenCV: </a:t>
            </a:r>
            <a:r>
              <a:t>1080p automated video frame synthesis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python-pptx: </a:t>
            </a:r>
            <a:r>
              <a:t>Dynamic presentation rendering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PIL / Pillow: </a:t>
            </a:r>
            <a:r>
              <a:t>Image manipulation &amp; asset formatting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1508" y="1783080"/>
            <a:ext cx="1965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1508" y="1783080"/>
            <a:ext cx="1965960" cy="73152"/>
          </a:xfrm>
          <a:prstGeom prst="rect">
            <a:avLst/>
          </a:prstGeom>
          <a:solidFill>
            <a:srgbClr val="2E6B9E"/>
          </a:solidFill>
          <a:ln>
            <a:solidFill>
              <a:srgbClr val="2E6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0108" y="1947672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E6B9E"/>
                </a:solidFill>
                <a:latin typeface="Georgia"/>
              </a:defRPr>
            </a:pPr>
            <a:r>
              <a:t>Tableau Public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1548" y="194767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VISUAL BI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0108" y="2423160"/>
            <a:ext cx="150876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Dual Dashboards: </a:t>
            </a:r>
            <a:r>
              <a:t>Interactive analytical applications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KPI Cards: </a:t>
            </a:r>
            <a:r>
              <a:t>Dynamic total medal &amp; participation badges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Calculated Fields: </a:t>
            </a:r>
            <a:r>
              <a:t>Host advantage, medal rates &amp; ROI formulas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Cross-Filtering: </a:t>
            </a:r>
            <a:r>
              <a:t>Synchronized interactive slicing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Cloud Hosted: </a:t>
            </a:r>
            <a:r>
              <a:t>Publicly available web deployment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11496" y="1783080"/>
            <a:ext cx="1965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11496" y="1783080"/>
            <a:ext cx="1965960" cy="7315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0096" y="1947672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Georgia"/>
              </a:defRPr>
            </a:pPr>
            <a:r>
              <a:t>CSV &amp; Data Layer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31536" y="194767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STORAGE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2423160"/>
            <a:ext cx="150876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Dual Schema: </a:t>
            </a:r>
            <a:r>
              <a:t>athletes.csv (biometrics) &amp; medal_results.csv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GitHub Friendly: </a:t>
            </a:r>
            <a:r>
              <a:t>Optimized file sizes strictly under 25 MB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Integrity Tested: </a:t>
            </a:r>
            <a:r>
              <a:t>Zero duplicate keys &amp; strict typing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Gzip Archived: </a:t>
            </a:r>
            <a:r>
              <a:t>Full 120-year historical dataset preserved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Portability: </a:t>
            </a:r>
            <a:r>
              <a:t>Vendor-agnostic open data standards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01484" y="1783080"/>
            <a:ext cx="1965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01484" y="1783080"/>
            <a:ext cx="1965960" cy="73152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30084" y="1947672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Georgia"/>
              </a:defRPr>
            </a:pPr>
            <a:r>
              <a:t>Visual Analytics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21524" y="194767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EXPLORATORY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0084" y="2423160"/>
            <a:ext cx="150876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Matplotlib: </a:t>
            </a:r>
            <a:r>
              <a:t>Baseline static exploratory charts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Seaborn: </a:t>
            </a:r>
            <a:r>
              <a:t>Correlation heatmaps &amp; statistical scatter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KPI Visuals: </a:t>
            </a:r>
            <a:r>
              <a:t>Clean executive-ready visual standards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Export Engine: </a:t>
            </a:r>
            <a:r>
              <a:t>Vector-ready SVG &amp; high-res PNG outputs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Color Harmony: </a:t>
            </a:r>
            <a:r>
              <a:t>Navy, Slate, and Olympic Gold palette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91472" y="1783080"/>
            <a:ext cx="1965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91472" y="1783080"/>
            <a:ext cx="1965960" cy="73152"/>
          </a:xfrm>
          <a:prstGeom prst="rect">
            <a:avLst/>
          </a:prstGeom>
          <a:solidFill>
            <a:srgbClr val="10955D"/>
          </a:solidFill>
          <a:ln>
            <a:solidFill>
              <a:srgbClr val="109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20072" y="1947672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955D"/>
                </a:solidFill>
                <a:latin typeface="Georgia"/>
              </a:defRPr>
            </a:pPr>
            <a:r>
              <a:t>DevOps &amp; Git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11512" y="194767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VERSION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0072" y="2423160"/>
            <a:ext cx="150876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Git / GitHub: </a:t>
            </a:r>
            <a:r>
              <a:t>Public repository &amp; versioned code history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Unit Testing: </a:t>
            </a:r>
            <a:r>
              <a:t>20 automated test validations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Documentation: </a:t>
            </a:r>
            <a:r>
              <a:t>Full IEEE/Harvard academic reporting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User Guides: </a:t>
            </a:r>
            <a:r>
              <a:t>Step-by-step dashboard operational manuals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Submission Hub: </a:t>
            </a:r>
            <a:r>
              <a:t>Self-contained FINAL_SUBMISSION package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6B9E"/>
                </a:solidFill>
                <a:latin typeface="Calibri"/>
              </a:defRPr>
            </a:pPr>
            <a:r>
              <a:t>GLOBAL OLYMPIC SPORTS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Dashboard 1: Global Sports Performance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Live interactive macro analytics exploring 120 years of Olympic history across nations, sports, and seasons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8655" cy="1828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Md. Firdous Alam | Skills Wallet Capstone Project | Tableau Public &amp; Python Analytics</a:t>
            </a:r>
          </a:p>
        </p:txBody>
      </p:sp>
      <p:pic>
        <p:nvPicPr>
          <p:cNvPr id="7" name="Picture 6" descr="Dashboard1_Global_Sports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621792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1783080"/>
            <a:ext cx="6217920" cy="4389120"/>
          </a:xfrm>
          <a:prstGeom prst="rect">
            <a:avLst/>
          </a:prstGeom>
          <a:noFill/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0" y="1783080"/>
            <a:ext cx="43278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0" y="1783080"/>
            <a:ext cx="4327855" cy="73152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1947672"/>
            <a:ext cx="3870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Georgia"/>
              </a:defRPr>
            </a:pPr>
            <a:r>
              <a:t>Dashboard Architectural Elements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14255" y="194767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MACRO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423160"/>
            <a:ext cx="3870655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Top KPI Banners: </a:t>
            </a:r>
            <a:r>
              <a:t>Dynamic metrics displaying Total Medals (Gold, Silver, Bronze), Active Nations, and Athlete Participation.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Top 10 Leaderboard: </a:t>
            </a:r>
            <a:r>
              <a:t>Ranked horizontal stacked bar chart displaying medal breakdown by country, led by USA, URS, and GER.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Historical Participation Trends: </a:t>
            </a:r>
            <a:r>
              <a:t>Multi-line time series tracking male vs female athletes and total medal events from 1896 to 2016.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Sport-Wise Medal Breakdown: </a:t>
            </a:r>
            <a:r>
              <a:t>Hierarchical distribution highlighting high-medal disciplines (Athletics, Swimming, Gymnastics).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Interactive Filters: </a:t>
            </a:r>
            <a:r>
              <a:t>Global dropdowns for Season (Summer/Winter), Olympic Year, and Country with instant cross-filtering.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User Journey: </a:t>
            </a:r>
            <a:r>
              <a:t>Allows analysts to drill from global macro performance down to single-edition national achievements.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6B9E"/>
                </a:solidFill>
                <a:latin typeface="Calibri"/>
              </a:defRPr>
            </a:pPr>
            <a:r>
              <a:t>GLOBAL OLYMPIC SPORTS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Dashboard 2: Olympic Performance &amp; Regional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Micro-efficiency analytics evaluating continental parity, host advantage boost, and funding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8655" cy="1828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Md. Firdous Alam | Skills Wallet Capstone Project | Tableau Public &amp; Python Analytics</a:t>
            </a:r>
          </a:p>
        </p:txBody>
      </p:sp>
      <p:pic>
        <p:nvPicPr>
          <p:cNvPr id="7" name="Picture 6" descr="Dashboard2_Regional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621792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1783080"/>
            <a:ext cx="6217920" cy="4389120"/>
          </a:xfrm>
          <a:prstGeom prst="rect">
            <a:avLst/>
          </a:prstGeom>
          <a:noFill/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0" y="1783080"/>
            <a:ext cx="4327855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0" y="1783080"/>
            <a:ext cx="4327855" cy="73152"/>
          </a:xfrm>
          <a:prstGeom prst="rect">
            <a:avLst/>
          </a:prstGeom>
          <a:solidFill>
            <a:srgbClr val="2E6B9E"/>
          </a:solidFill>
          <a:ln>
            <a:solidFill>
              <a:srgbClr val="2E6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1947672"/>
            <a:ext cx="3870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E6B9E"/>
                </a:solidFill>
                <a:latin typeface="Georgia"/>
              </a:defRPr>
            </a:pPr>
            <a:r>
              <a:t>Advanced Diagnostic 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14255" y="194767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EFFICIENCY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423160"/>
            <a:ext cx="3870655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Continental Medal Share: </a:t>
            </a:r>
            <a:r>
              <a:t>Donut chart revealing extreme geographic concentration: Europe (52.1%) and North America (28.4%).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Host Nation Performance Benchmark: </a:t>
            </a:r>
            <a:r>
              <a:t>Comparative bar chart proving host nations outperform their 3-edition historical average by +15.4 medals.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UK Sport Funding vs Medal ROI: </a:t>
            </a:r>
            <a:r>
              <a:t>Scatter plot tracking lottery investment (£M) against medal yields (Sydney 2000 to Rio 2016).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Efficiency Metrics: </a:t>
            </a:r>
            <a:r>
              <a:t>Medals per athlete ratio demonstrating high-yield specialist nations (e.g. Kenya in middle distance, Jamaica in sprints).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Host Year Outliers: </a:t>
            </a:r>
            <a:r>
              <a:t>Great Britain (+18 medals in London 2012), Australia (+17 in Sydney 2000), China (+37 in Beijing 2008).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Policy Utility: </a:t>
            </a:r>
            <a:r>
              <a:t>Provides sports ministries empirical justification for high-performance investment programs.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6B9E"/>
                </a:solidFill>
                <a:latin typeface="Calibri"/>
              </a:defRPr>
            </a:pPr>
            <a:r>
              <a:t>GLOBAL OLYMPIC SPORTS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Key Empirical Findings &amp; Strategic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Quantified findings derived from 120 years of validated Olympic competition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8655" cy="1828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Md. Firdous Alam | Skills Wallet Capstone Project | Tableau Public &amp; Python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175504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175504" cy="7315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47672"/>
            <a:ext cx="47183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Georgia"/>
              </a:defRPr>
            </a:pPr>
            <a:r>
              <a:t>1. The Host Nation Performance Bump (+54%)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94767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+15.4 MEDALS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23160"/>
            <a:ext cx="4718304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Empirical Average: </a:t>
            </a:r>
            <a:r>
              <a:t>Host nations average a net gain of +15.4 medals (1.54x factor) over baseline.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Prime Case Study: </a:t>
            </a:r>
            <a:r>
              <a:t>Great Britain surged from 47 medals (Beijing 2008) to 65 (London 2012) and 67 (Rio 2016).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Strategic Driver: </a:t>
            </a:r>
            <a:r>
              <a:t>Unprecedented combination of automatic qualification quotas, crowd support, and 8-year targeted funding.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783080"/>
            <a:ext cx="5175504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2784" y="1783080"/>
            <a:ext cx="5175504" cy="73152"/>
          </a:xfrm>
          <a:prstGeom prst="rect">
            <a:avLst/>
          </a:prstGeom>
          <a:solidFill>
            <a:srgbClr val="2E6B9E"/>
          </a:solidFill>
          <a:ln>
            <a:solidFill>
              <a:srgbClr val="2E6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1947672"/>
            <a:ext cx="47183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E6B9E"/>
                </a:solidFill>
                <a:latin typeface="Georgia"/>
              </a:defRPr>
            </a:pPr>
            <a:r>
              <a:t>2. The Gender Parity Revolution (21.5% → 45.0%)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02368" y="194767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45.0% FEMALE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23160"/>
            <a:ext cx="4718304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Historical Trajectory: </a:t>
            </a:r>
            <a:r>
              <a:t>Female participation grew from 21.5% in 1980 (Moscow) to 45.0% in 2016 (Rio de Janeiro).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Milestone Games: </a:t>
            </a:r>
            <a:r>
              <a:t>London 2012 marked the first Olympics where every participating nation included female competitors.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Growth Disciplines: </a:t>
            </a:r>
            <a:r>
              <a:t>Expansion driven by Boxing (2012), Wrestling (2004), and expanded team tournaments.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5175504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114800"/>
            <a:ext cx="5175504" cy="73152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79392"/>
            <a:ext cx="47183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Georgia"/>
              </a:defRPr>
            </a:pPr>
            <a:r>
              <a:t>3. Asymmetric Continental Dominance (80.5%)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61104" y="427939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80.5% SHARE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754880"/>
            <a:ext cx="4718304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Regional Divide: </a:t>
            </a:r>
            <a:r>
              <a:t>Europe (52.1%) and North America (28.4%) account for 80.5% of all historical Olympic podium places.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Winter Exclusivity: </a:t>
            </a:r>
            <a:r>
              <a:t>Over 94% of Winter Olympic medals are claimed by European and North American athletes.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Economic Barrier: </a:t>
            </a:r>
            <a:r>
              <a:t>High equipment, velodrome, and refrigerated track costs severely impede developing nations.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2784" y="4114800"/>
            <a:ext cx="5175504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72784" y="4114800"/>
            <a:ext cx="5175504" cy="73152"/>
          </a:xfrm>
          <a:prstGeom prst="rect">
            <a:avLst/>
          </a:prstGeom>
          <a:solidFill>
            <a:srgbClr val="10955D"/>
          </a:solidFill>
          <a:ln>
            <a:solidFill>
              <a:srgbClr val="109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1384" y="4279392"/>
            <a:ext cx="47183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955D"/>
                </a:solidFill>
                <a:latin typeface="Georgia"/>
              </a:defRPr>
            </a:pPr>
            <a:r>
              <a:t>4. High-Performance Funding ROI (£4.21M / Medal)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02368" y="427939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£4.21M / MEDAL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4754880"/>
            <a:ext cx="4718304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Marginal Cost Dynamic: </a:t>
            </a:r>
            <a:r>
              <a:t>UK Sport investment escalated from £58.9M (Sydney 2000) to £274.5M (Rio 2016).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Cost per Medal: </a:t>
            </a:r>
            <a:r>
              <a:t>Average expenditure per medal rose from £2.10M in Sydney to £4.21M in Rio.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Strategic Takeaway: </a:t>
            </a:r>
            <a:r>
              <a:t>Returns diminish exponentially; podium dominance requires sustained multi-cycle capital commitment.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6B9E"/>
                </a:solidFill>
                <a:latin typeface="Calibri"/>
              </a:defRPr>
            </a:pPr>
            <a:r>
              <a:t>GLOBAL OLYMPIC SPORTS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Conclusions, Policy Recommendations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Actionable takeaways for sports ministries, academic limitations, and roadmap for future iterations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8655" cy="1828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Md. Firdous Alam | Skills Wallet Capstone Project | Tableau Public &amp; Python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28416" cy="73152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47672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Georgia"/>
              </a:defRPr>
            </a:pPr>
            <a:r>
              <a:t>Policy 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194767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23160"/>
            <a:ext cx="2871216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Targeted Niche Investment: </a:t>
            </a:r>
            <a:r>
              <a:t>Developing nations should concentrate scarce funding in combat and sprint disciplines rather than high-capex technical sports.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Host Legacy Planning: </a:t>
            </a:r>
            <a:r>
              <a:t>Nations planning Olympic bids must construct 12-year athlete development pipelines to monetize the host bump.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Grassroots Female Pipelines: </a:t>
            </a:r>
            <a:r>
              <a:t>Sustain institutional investment in female coaching and university sports scholarships.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78308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25696" y="1783080"/>
            <a:ext cx="3328416" cy="7315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1947672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Georgia"/>
              </a:defRPr>
            </a:pPr>
            <a:r>
              <a:t>Academic Limitations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194767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2423160"/>
            <a:ext cx="2871216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Boycott Skew: </a:t>
            </a:r>
            <a:r>
              <a:t>1980 Moscow and 1984 Los Angeles geopolitical boycotts introduce data gaps in historical regression lines.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NOC Realignment: </a:t>
            </a:r>
            <a:r>
              <a:t>Historical entity merges (URS to Russia/CIS; GDR/FRG to Germany) require cautious longitudinal comparisons.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Funding Disclosure: </a:t>
            </a:r>
            <a:r>
              <a:t>Audited investment data is publicly standardized primarily for UK Sport; global financial data remains proprietary.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78308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1783080"/>
            <a:ext cx="3328416" cy="73152"/>
          </a:xfrm>
          <a:prstGeom prst="rect">
            <a:avLst/>
          </a:prstGeom>
          <a:solidFill>
            <a:srgbClr val="2E6B9E"/>
          </a:solidFill>
          <a:ln>
            <a:solidFill>
              <a:srgbClr val="2E6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1947672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E6B9E"/>
                </a:solidFill>
                <a:latin typeface="Georgia"/>
              </a:defRPr>
            </a:pPr>
            <a:r>
              <a:t>Future Scope &amp; Links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02368" y="1947672"/>
            <a:ext cx="13716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ROADMAP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423160"/>
            <a:ext cx="2871216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Paris 2024 &amp; LA 2028: </a:t>
            </a:r>
            <a:r>
              <a:t>Ingest modern 2020/2024 results to model post-pandemic athlete recovery curves.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Machine Learning: </a:t>
            </a:r>
            <a:r>
              <a:t>Deploy XGBoost models to predict nation medal shares based on GDP, population, and host status.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Repository: </a:t>
            </a:r>
            <a:r>
              <a:t>github.com/firdousalam2006vk/Olympic-Sports-Analysis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rPr b="1">
                <a:solidFill>
                  <a:srgbClr val="1B365D"/>
                </a:solidFill>
              </a:rPr>
              <a:t>• Live Dashboard: </a:t>
            </a:r>
            <a:r>
              <a:t>public.tableau.com (Md. Firdous Alam)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